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6.png"/><Relationship Id="rId5" Type="http://schemas.microsoft.com/office/2007/relationships/media" Target="../media/media3.mp4"/><Relationship Id="rId6" Type="http://schemas.openxmlformats.org/officeDocument/2006/relationships/video" Target="../media/media3.mp4"/><Relationship Id="rId7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Automated curriculum learning under a safety constraint — progress, 21 October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A1A1A"/>
                </a:solidFill>
                <a:latin typeface="Calibri"/>
              </a:rPr>
              <a:t>Giuseppe Hannen</a:t>
            </a:r>
          </a:p>
          <a:p>
            <a:pPr algn="l"/>
          </a:p>
          <a:p>
            <a:pPr algn="l"/>
            <a:r>
              <a:rPr sz="2200" b="0">
                <a:solidFill>
                  <a:srgbClr val="1A1A1A"/>
                </a:solidFill>
                <a:latin typeface="Calibri"/>
              </a:rPr>
              <a:t>1  The per-context constraint works</a:t>
            </a:r>
          </a:p>
          <a:p>
            <a:pPr algn="l"/>
            <a:r>
              <a:rPr sz="2200" b="0">
                <a:solidFill>
                  <a:srgbClr val="1A1A1A"/>
                </a:solidFill>
                <a:latin typeface="Calibri"/>
              </a:rPr>
              <a:t>2  The best policy was hiding a problem</a:t>
            </a:r>
          </a:p>
          <a:p>
            <a:pPr algn="l"/>
            <a:r>
              <a:rPr sz="2200" b="0">
                <a:solidFill>
                  <a:srgbClr val="1A1A1A"/>
                </a:solidFill>
                <a:latin typeface="Calibri"/>
              </a:rPr>
              <a:t>3  What was tried</a:t>
            </a:r>
          </a:p>
          <a:p>
            <a:pPr algn="l"/>
            <a:r>
              <a:rPr sz="2200" b="0">
                <a:solidFill>
                  <a:srgbClr val="1A1A1A"/>
                </a:solidFill>
                <a:latin typeface="Calibri"/>
              </a:rPr>
              <a:t>4  The result, side by side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1 · One λ follows the curriculum; the constraint never holds where the policy is deployed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Calibri"/>
              </a:rPr>
              <a:t>PPO-Lagrange holds its constraint with one scalar λ, updated from the cost of whatever the curriculum samples. Every arm so far: at the budget on its own distribution, three to four times over it on level 3.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423160"/>
          <a:ext cx="1078992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297680"/>
                <a:gridCol w="4297680"/>
              </a:tblGrid>
              <a:tr h="566928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published PPO-Lagrange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contextual CMDP (this work)</a:t>
                      </a:r>
                    </a:p>
                  </a:txBody>
                  <a:tcPr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multiplier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one scalar 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a function λ(ω), fitted each round to what the integrator asks for</a:t>
                      </a:r>
                    </a:p>
                  </a:txBody>
                  <a:tcPr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policy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sees sensors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is told the context ω: hazard counts, goal radius</a:t>
                      </a:r>
                    </a:p>
                  </a:txBody>
                  <a:tcPr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critics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see sensors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see sensors and ω</a:t>
                      </a:r>
                    </a:p>
                  </a:txBody>
                  <a:tcPr/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A1A1A"/>
                          </a:solidFill>
                          <a:latin typeface="Calibri"/>
                        </a:rPr>
                        <a:t>forms of λ(ω)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  <a:latin typeface="Calibri"/>
                        </a:rPr>
                        <a:t>network: a small MLP · additive: monotone per factor, so an unseen context's λ is bounded by its neighbours'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94360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5F9E"/>
                </a:solidFill>
                <a:latin typeface="Calibri"/>
              </a:rPr>
              <a:t>Constraint per context, policy told the context: the curriculum can no longer move the constraint.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1 · Every arm under λ(ω) ends at the budget on level 3; additive keeps more return</a:t>
            </a:r>
          </a:p>
        </p:txBody>
      </p:sp>
      <p:pic>
        <p:nvPicPr>
          <p:cNvPr id="3" name="Picture 2" descr="end_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645" y="1234440"/>
            <a:ext cx="1073040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5F9E"/>
                </a:solidFill>
                <a:latin typeface="Calibri"/>
              </a:rPr>
              <a:t>Fifteen arms, 500 M steps. Scalar λ: none on budget. λ(ω): all on budget; additive &gt; network on return everywhere. Additive is the default.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2 · Replaying the best policy: the typical episode costs half the budget</a:t>
            </a:r>
          </a:p>
        </p:txBody>
      </p:sp>
      <p:pic>
        <p:nvPicPr>
          <p:cNvPr id="3" name="Picture 2" descr="mass_level3_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493" y="1234440"/>
            <a:ext cx="5703974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417320"/>
            <a:ext cx="423641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Every episode on a grid: goals across, cost up; colour = share of episodes.</a:t>
            </a:r>
          </a:p>
          <a:p>
            <a:pPr algn="l"/>
          </a:p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○ median: cost 13.</a:t>
            </a:r>
          </a:p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× mean: 19.4.</a:t>
            </a:r>
          </a:p>
          <a:p>
            <a:pPr algn="l"/>
          </a:p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The top row is every episode costing 50 or more: 1 in 20 of the episodes, 29 % of all the cost.</a:t>
            </a:r>
          </a:p>
          <a:p>
            <a:pPr algn="l"/>
          </a:p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Orange line: the budget left for the other 95 % once those few are paid for.</a:t>
            </a:r>
          </a:p>
          <a:p>
            <a:pPr algn="l"/>
          </a:p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Those few set the multiplier. Every other episode pays for them with caution.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5F9E"/>
                </a:solidFill>
                <a:latin typeface="Calibri"/>
              </a:rPr>
              <a:t>A constraint on the mean is met by a policy whose failures are few and large.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2 · The failure: a gap too narrow, tried again and again</a:t>
            </a:r>
          </a:p>
        </p:txBody>
      </p:sp>
      <p:pic>
        <p:nvPicPr>
          <p:cNvPr id="3" name="level3_worst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48640" y="1234440"/>
            <a:ext cx="576072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75120" y="1417320"/>
            <a:ext cx="496793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Left: the published baseline (one λ, blind). Right: the best contextual policy — after the fix of part 3.</a:t>
            </a:r>
          </a:p>
          <a:p>
            <a:pPr algn="l"/>
          </a:p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The agent drives into a gap, is pushed back, approaches again, for the rest of the episode. The border flashes red at every contact.</a:t>
            </a:r>
          </a:p>
          <a:p>
            <a:pPr algn="l"/>
          </a:p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Why it cannot learn otherwise: the lidar reads the distance to each hazard's centre. A flat disc it may cross and a solid cylinder it cannot look identical, and the width of a gap is not in the observation at all.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5F9E"/>
                </a:solidFill>
                <a:latin typeface="Calibri"/>
              </a:rPr>
              <a:t>Whether the gap is passable is not a function of what the policy sees.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3 · Three remedies, after one measurement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95959"/>
                </a:solidFill>
                <a:latin typeface="Calibri"/>
              </a:rPr>
              <a:t>Measured first, on 384 replayed episodes: contact is intermittent — 68 touches over 700 steps, never more than 10 in a row, a median of 32 steps between touches.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14884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572000"/>
                <a:gridCol w="4480560"/>
              </a:tblGrid>
              <a:tr h="64008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the idea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what happened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a camera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shows kind, extent and occlusion, on every suite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the same failure with the wall in frame; evaluations swing between checkpoints — set aside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geometry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the lidar as two arrays, passable and solid, reading the hazards' surface — the missing fact, in the sensor it already reads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next slide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a trace of recent sensors, actions and costs (τ = 32 steps, the median interval between touches) — so it can know it has been here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next slide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Calibri"/>
                        </a:rPr>
                        <a:t>a cost rising with sustained contact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charge pressing, not brushing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not run: there is no sustained contact to charge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94360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5F9E"/>
                </a:solidFill>
                <a:latin typeface="Calibri"/>
              </a:rPr>
              <a:t>Five arms at 500 M, judged by the per-episode metrics the evaluator now logs and by 2048 replayed episodes each.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3 · Surface lidar: the median meets the mean and the tail is gone. Memory alone: neither</a:t>
            </a:r>
          </a:p>
        </p:txBody>
      </p:sp>
      <p:pic>
        <p:nvPicPr>
          <p:cNvPr id="3" name="Picture 2" descr="level3_2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634" y="1234440"/>
            <a:ext cx="5684427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5F9E"/>
                </a:solidFill>
                <a:latin typeface="Calibri"/>
              </a:rPr>
              <a:t>The failure was perceptual. The surface lidar is the observation from here; the memory stays available and off.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4 · Before and after, same learner and curriculum: the cloud moves up to the budget and right</a:t>
            </a:r>
          </a:p>
        </p:txBody>
      </p:sp>
      <p:pic>
        <p:nvPicPr>
          <p:cNvPr id="3" name="Picture 2" descr="mass_level3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21599"/>
            <a:ext cx="11094415" cy="39976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5F9E"/>
                </a:solidFill>
                <a:latin typeface="Calibri"/>
              </a:rPr>
              <a:t>The top row falls from 29 % of all cost to 8 %; the budget left for the ordinary episodes rises from 19.5 to 23.2 of 25; goals 13.1 → 15.5.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4 · The published baseline against the best contextual policy, typical episodes</a:t>
            </a:r>
          </a:p>
        </p:txBody>
      </p:sp>
      <p:pic>
        <p:nvPicPr>
          <p:cNvPr id="3" name="level1_typical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48640" y="1234440"/>
            <a:ext cx="5364327" cy="4206240"/>
          </a:xfrm>
          <a:prstGeom prst="rect">
            <a:avLst/>
          </a:prstGeom>
        </p:spPr>
      </p:pic>
      <p:pic>
        <p:nvPicPr>
          <p:cNvPr id="4" name="level3_typical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278727" y="1234440"/>
            <a:ext cx="5364327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486400"/>
            <a:ext cx="53643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  <a:latin typeface="Calibri"/>
              </a:rPr>
              <a:t>Level 1 — the baseline hoards the budget; the contextual policy spends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8727" y="5486400"/>
            <a:ext cx="53643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  <a:latin typeface="Calibri"/>
              </a:rPr>
              <a:t>Level 3 — the contextual policy under budget, the baseline 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4360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5F9E"/>
                </a:solidFill>
                <a:latin typeface="Calibri"/>
              </a:rPr>
              <a:t>One constraint, one policy: at the budget on every level, more goals than the baseline on every level, a worst case eight times smaller.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Calibri"/>
              </a:rPr>
              <a:t>Two things to say honestly, and what comes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53643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Avoidance, not escape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5364327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The agent enters a trap a third as often. Once inside, it gets out no more often than before.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37560"/>
            <a:ext cx="53643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A mean constraint spends the 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94760"/>
            <a:ext cx="5364327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Met by a policy that uses it, the budget is exceeded in four episodes of ten, by small amounts. That is what the constraint asks for — and the per-episode metrics now say 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234440"/>
            <a:ext cx="536432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Calibri"/>
              </a:rPr>
              <a:t>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8727" y="1691640"/>
            <a:ext cx="5364327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•  A second seed before any claim about which curriculum is best (PLR led uniform under both lidars, one seed each).</a:t>
            </a:r>
          </a:p>
          <a:p>
            <a:pPr algn="l"/>
          </a:p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•  Task 2: the held-out hazard-count band — the first generalisation test, on an observation whose cost is not set by a tail.</a:t>
            </a:r>
          </a:p>
          <a:p>
            <a:pPr algn="l"/>
          </a:p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•  Recovery once inside a trap: a recurrent policy, or targeted experience.</a:t>
            </a:r>
          </a:p>
          <a:p>
            <a:pPr algn="l"/>
          </a:p>
          <a:p>
            <a:pPr algn="l"/>
            <a:r>
              <a:rPr sz="1800" b="0">
                <a:solidFill>
                  <a:srgbClr val="1A1A1A"/>
                </a:solidFill>
                <a:latin typeface="Calibri"/>
              </a:rPr>
              <a:t>•  For Tristan: the surface lidar and the memory part, both opt-in.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